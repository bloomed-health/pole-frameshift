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POLE c.138del (p.Leu46Phefs*8)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Frameshift Variant in Polymerase Proofreading-Associated Polyposis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Paradox | Clinical Phenotype | Research Priorities | Therapeutic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https://github.com/Bloomed-Health/POLE-Frameshift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&gt;100 mut/Mb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Frameshift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Non-PPAP Tumor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IV+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Endometriosis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3840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(DNA Polymerase Epsilon)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c.138del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066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066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p.Leu46Phefs*8 (stop at ~aa 54)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frameshift (LoF)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7614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mut/Mb (ultra-hypermutated)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from all databases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56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3456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803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803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7772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sessile adenomatous polyps (stomach, cecum, sigmoid); chronic gastric gastritis; friable rectal mucosa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papillary thyroid carcinoma (cystic variant, squamous metaplasia) — outside established PPAP spectrum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IV+ deep infiltrating endometriosis into thoracic diaphragm; diffuse asymmetric adenomyosis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breast: fibroadenomatous change, PASH, stromal fibrosis; Liver: FNH / hemangioma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inferior vena cava — congenital developmental anomaly (cannot be explained by somatic LOH)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Multi-System Phenotype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phenotypic domains suggest systemic POLE dysfunction beyond tumor mutagenesis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Neoplastic (Classical PPAP)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GI polyps across stomach, cecum, sigmoid. Consistent with attenuated polyposis (Palles et al., 2022). Gastric + duodenal involvement characteristic of POLE heterozygotes.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Neoplastic (Spectrum Expansion)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 thyroid carcinoma — not previously reported in PPAP. If SBS10a/b or POLE LOH confirmed in thyroid tumor, formally expands PPAP tumor spectrum.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80360"/>
            <a:ext cx="3840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Endometrial Dysregulation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IV+ endometriosis to diaphragm + adenomyosis. Endometrium is POLE-vulnerable (somatic POLE in 7–12% of sporadic EC). Novel question: does POLE haploinsufficiency drive endometriosis?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/ Proliferative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IVC (congenital = present from embryogenesis). Bilateral breast PASH + liver FNH. Pattern of vascular/stromal proliferative changes. IVC argues against pure LOH model.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Mechanistic Paradox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variant should not cause classical PPAP — but does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Catalytic Subunit (p261) — 2,286 amino acids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63040"/>
            <a:ext cx="173736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772000" y="1463040"/>
            <a:ext cx="649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2770400" y="1463040"/>
            <a:ext cx="2176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aa54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89120" y="1874520"/>
            <a:ext cx="101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Exonuclease (268–471)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78960" y="1874520"/>
            <a:ext cx="235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Polymerase (580–1260)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71800"/>
            <a:ext cx="64008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99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PPAP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27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Missense variants in exonuclease domain → dominant-negative: polymerase works, proofreading fails → SBS10a/b signatures → ultra-hypermutation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03320"/>
            <a:ext cx="64008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307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Variant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59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 at aa 46 → stop at aa 54 → no exonuclease, no polymerase → should be null allele → yet produces full PPAP phenotype + extended multi-system presentation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434840"/>
            <a:ext cx="64008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622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Constraint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6908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duplicated IVC argues against pure LOH (somatic) as sole explanation. Severe endometriosis in high-turnover tissue favors threshold haploinsufficiency model.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Mechanistic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phenotype constrains the hypothesis space: IVC → against pure LOH; endometriosis → favors threshold model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01498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14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941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Somatic Loss of Heterozygosity (LOH)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 allele lost in tumor → biallelic POLE loss → Knudson two-hit model. Explains tumor mutagenesis but NOT congenital IVC.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7922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7190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Translational Reinitiation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0116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reinitiates at downstream AUG → truncated protein retains polymerase but lacks exonuclease → phenocopies dominant-negative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5694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496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NMD Escape + Holoenzyme Poisoning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7889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peptide sequesters POLE2/3/4 subunits → dominant-negative via stoichiometric disruption. Could explain systemic effects including PASH, FNH.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34670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2735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 Stress Haploinsufficiency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5661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POLE rate-limiting under stress in high-turnover tissues (crypts, endometrium). Best explains endometriosis + IVC + multi-organ pattern.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123944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050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Isoform-Specific Effects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343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c.138del differentially affects POLE transcript variants — eliminating critical isoform while sparing others with neomorphic properties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Mutational Signature Discrimination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Canonical POLE Signatures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SBS10a (C&gt;A in TCT) — dominant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SBS10b (C&gt;T in TCG) — dominant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SBS28 — secondary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Ultra-hypermutation from POLE proofreading failure despite truncation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Favors: Models 1 (LOH) or 2 (reinitiation)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GI tumors AND thyroid carcinoma for signatures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Non-Canonical Signatures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SBS6/15/21/26 (MMR deficiency)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SBS2/13 (APOBEC activity)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uncharacterized signature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Different mutational process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Redefines PPAP boundaries as a syndrome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epigenetic MLH1 silencing (per Japanese PPAP frameshift case)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signature ≥78.5% predicts ICI response; ≤28.5% predicts non-response (Annals of Oncology, 2024)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Blood-Based Research Assays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80467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777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/ Mutational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Sequencing / NanoSeq on PBMCs — somatic mutation rate vs. controls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Allele-specific RNA-seq — NMD escape test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profiling (DNMT3A, TET2, ASXL1, TP53) — clonal hematopoiesis burden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80467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756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Tumor Markers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Tumor-informed ctDNA panel — monitors residual disease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715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isolation + single-cell WGS — tracks tumor evolution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80467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815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Profiling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CyTOF: T cell subsets + exhaustion markers (PD-1, TIM-3, LAG-3, TIGIT)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7216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 repertoire sequencing (immunoSEQ) — tumor-reactive clones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87368"/>
            <a:ext cx="804672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873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Protein, Metabolic &amp; Clinical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protein quantification (SRM/PRM mass spec); dNTP pool (LC-MS/MS)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727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CBC, CMP, CRP/ESR, TSH, tumor markers — baselines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Immunotherapy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822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TMB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Cancer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207008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207008"/>
            <a:ext cx="9144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Threshold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618488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618488"/>
            <a:ext cx="18288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MSI-High CRC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2029968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2029968"/>
            <a:ext cx="73152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441448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103120" y="2441448"/>
            <a:ext cx="182880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7772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777240"/>
            <a:ext cx="384048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795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Approaches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280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(Pembrolizumab)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463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 CBR, 15.1 mo PFS (JCO 2022)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7190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Anti-PD-1 + Anti-CTLA-4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9019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multiple co-inhibitory receptors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 Vaccination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340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mRNA-4157/V940; adjuvant post-resection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25968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ICB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7797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cancer in mutator mice (Cancer Res 2025)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24612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2735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Matters for Long-Term Strategy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5021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LOH-driven (two-hit): different clonal architecture and resistance trajectories. Signature analysis of BOTH GI tumors AND thyroid carcinoma is essential. Serial ctDNA monitoring guides therapy sequencing.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06240"/>
            <a:ext cx="64008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336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 Lab Classification Framework (Genome Medicine, 2023)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462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c.138del falls outside their ED missense variant framework — a truncating variant producing a phenotype within the framework’s target syndrome. Natural test case for framework extension.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Lethality Targets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6400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795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ATR-CHK1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14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Ceralasertib, Berzosertib, Elimusertib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8138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POLE-deficient cells at viability threshold for replication stress; ATR inhibition → replication catastrophe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252728"/>
            <a:ext cx="100584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52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00200"/>
            <a:ext cx="64008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18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WRN Helicase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379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WRN inhibitors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6367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secondary MMR loss creates MSI → WRN essential for fork stability at expanded microsatellites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075688"/>
            <a:ext cx="100584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075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423160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441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PARP Trapping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660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Olaparib, Talazoparib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0" y="2459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stress → increased dependence on PARP1-mediated fork stabilization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2898648"/>
            <a:ext cx="10058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898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246120"/>
            <a:ext cx="64008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64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dNTP Metabolism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483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Brequinar (DHODH), low-dose HU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0" y="32826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imbalance compounds proofreading deficit → pushes mutation rate beyond viability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21608"/>
            <a:ext cx="100584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7216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069080"/>
            <a:ext cx="64008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087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 + PARP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43068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AZD6738 + Olaparib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0" y="4105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 inhibition causes HRR deficiency, synergizing with PARP trapping (Br J Cancer 2024)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4544568"/>
            <a:ext cx="100584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4544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Research Domains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unexplored domains of POLE biology relevant to this variant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005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Context &amp; Reinitiation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AUG mapping, Kozak scoring, IRES prediction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38404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0058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1005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Non-Replicative POLE Functions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79192" y="12801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POLE3/POLE4 histone recycling, DNA repair synthesis, replisome stability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60520" y="1005840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0058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1005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cGAS-STING Innate Immunity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2801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Constitutive activation from replication stress; explains inflammatory features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38404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058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903720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76872" y="10058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Telomere Biology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76872" y="12801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G-quadruplex stalling; accelerated attrition from POLE haploinsufficiency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58200" y="1005840"/>
            <a:ext cx="38404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10058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1984248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20299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R-Loop Dynamics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" y="230428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Transcription-replication conflicts; R-loops at estrogen-responsive genes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2029968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06040" y="1984248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79192" y="20299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Translesion Synthesis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79192" y="230428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polymerase recruitment from increased fork stalling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60520" y="2029968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16052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1984248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20299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Interactions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230428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regulation of POLE expression; endometrial vulnerability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09360" y="2029968"/>
            <a:ext cx="38404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903720" y="1984248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76872" y="20299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Stress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76872" y="230428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mutations in mito genes; ROS feed-forward loop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458200" y="2029968"/>
            <a:ext cx="38404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" y="3008376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0352" y="30540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CMMRD Comparator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0352" y="332841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POLE-specific vs. generic hypermutation features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011680" y="3054096"/>
            <a:ext cx="38404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2011680" y="30540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06040" y="3008376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679192" y="30540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Multi-Polyp Genomics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79192" y="332841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LOH per polyp; mechanistic diversity across lesions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160520" y="3054096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4160520" y="30540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754880" y="3008376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28032" y="30540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Epigenomics (H3K36me3)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28032" y="332841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MMR impairment; LINE-1 reactivation; chromatin disruption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309360" y="3054096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30540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903720" y="3008376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976872" y="30540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76872" y="3328416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CYP/HLA typing for drug dosing and neoantigen prediction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458200" y="3054096"/>
            <a:ext cx="384048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4" name="Text 62"/>
          <p:cNvSpPr/>
          <p:nvPr/>
        </p:nvSpPr>
        <p:spPr>
          <a:xfrm>
            <a:off x="8458200" y="30540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57200" y="4032504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0352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30352" y="43525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gut ecology from mucosal mutagenesis; ICI response prediction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011680" y="4078224"/>
            <a:ext cx="38404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2011680" y="4078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606040" y="4032504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679192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Sensitivity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679192" y="43525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 repair synthesis; dosing implications for thyroid RT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160520" y="4078224"/>
            <a:ext cx="38404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4" name="Text 72"/>
          <p:cNvSpPr/>
          <p:nvPr/>
        </p:nvSpPr>
        <p:spPr>
          <a:xfrm>
            <a:off x="4160520" y="4078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754880" y="4032504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828032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Long-Read Sequencing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828032" y="43525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Haplotype phasing, per-allele methylation, direct RNA-seq for NMD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309360" y="4078224"/>
            <a:ext cx="384048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9" name="Text 77"/>
          <p:cNvSpPr/>
          <p:nvPr/>
        </p:nvSpPr>
        <p:spPr>
          <a:xfrm>
            <a:off x="6309360" y="4078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903720" y="4032504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976872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Ferroptosis / Senescence / cfDNA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976872" y="43525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stress → lipid ROS; SASP → inflammation; cfDNA biomarker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8458200" y="4078224"/>
            <a:ext cx="38404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Text 82"/>
          <p:cNvSpPr/>
          <p:nvPr/>
        </p:nvSpPr>
        <p:spPr>
          <a:xfrm>
            <a:off x="8458200" y="4078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T2/3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Achievable now 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Requires patient cells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Requires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Research Questions from Clinical Phenotype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have never been asked in the POLE literature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3327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thyroid cancer be added to the PPAP tumor spectrum?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0759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 signature analysis (SBS10a/b) and LOH at POLE locus in thyroid tumor tissue. If confirmed, expands PPAP spectrum beyond GI/endometrial/brain tumors.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9339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POLE haploinsufficiency contribute to endometriosis severity?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investigated. Endometrium is POLE-vulnerable (7–12% of sporadic EC has somatic POLE mutations). Retrospective analysis of endometriosis prevalence in existing POLE carrier cohorts (e.g., Valle lab’s 2,813 probands).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6400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535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POLE truncation carriers have elevated congenital anomaly rates?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22783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IVC suggests developmental effects. Robinson et al. (2021) showed germline POLE mutations affect embryonic mutation rates. Systematic ascertainment of developmental anomalies in existing carrier cohorts.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1363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estrogen regulate POLE expression, creating cyclic vulnerability?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promoter ERE analysis (computationally achievable now). If POLE is estrogen-responsive, haploinsufficiency worsens during the proliferative menstrual phase — explaining endometrial vulnerability.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Models Required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Patient-Derived Organoids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screening (ICI in immune co-culture, ATR/PARP/WRN inhibitors); signature dynamics during expansion; LOH timing. Highest-priority translational resource.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85039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8503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7724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Isogenic CRISPR Cell 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c.138del in RPE1-hTERT, HCT116, HAP1 (het + hemizygous). Parallel P286R/V411L panels. Fluctuation assays, DNA fiber assays, drug sensitivity.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0" y="85039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8503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3840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Knock-In Mouse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Cre-inducible murine equivalent. Tissue-specific activation for tumor spectrum, LOH requirement, penetrance. Cross with MMR-null backgrounds.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86207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862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88920"/>
            <a:ext cx="3840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/ Digital Twin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crypt dynamics: POLE dosage vs. mutation rate, LOH rates, clonal competition. Predict lifetime risk and surveillance intervals.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2862072"/>
            <a:ext cx="8686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2862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Prioritization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26517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804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 months)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9808" y="129844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tumor-normal WGS with LOH analysis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556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9808" y="172821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 signature decomposition (SBS10a/b/28)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854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49808" y="215798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NMD escape test (allele-specific RNA-seq)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151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9808" y="2587752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NanoSeq duplex sequencing of blood cells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044952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449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49808" y="301752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Immunophenotyping + TCR repertoire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9808" y="34472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IHC, MSI, MLH1 methylation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904488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044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49808" y="387705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AUG mapping + Kozak scoring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4334256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342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49808" y="430682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 (CYP, HLA from WGS)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777240"/>
            <a:ext cx="26517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777240"/>
            <a:ext cx="26517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804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(3–12 months)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1325880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13258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84448" y="129844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Ribo-seq + proteomics for POLE products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755648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17556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84448" y="172821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Organoid establishment (tumor + normal)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83280" y="2185416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21854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84448" y="215798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Neoantigen prediction + T cell detection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83280" y="2615184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26151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84448" y="2587752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screening in organoid models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83280" y="3044952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3383280" y="30449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584448" y="301752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ctDNA panel design + baseline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3474720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3383280" y="34747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84448" y="34472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cGAS-STING pathway assessment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3904488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3383280" y="39044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84448" y="387705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Senescence markers + SASP panel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383280" y="4334256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83280" y="43342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584448" y="430682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profiling (stool 16S)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26480" y="777240"/>
            <a:ext cx="26517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26480" y="777240"/>
            <a:ext cx="26517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6199632" y="804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(1–3 years)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17920" y="1325880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13258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419088" y="129844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Isogenic CRISPR panels (c.138del vs P286R)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17920" y="175564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6217920" y="17556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419088" y="172821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knock-in mouse model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17920" y="2185416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8" name="Text 66"/>
          <p:cNvSpPr/>
          <p:nvPr/>
        </p:nvSpPr>
        <p:spPr>
          <a:xfrm>
            <a:off x="6217920" y="21854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419088" y="215798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WGS of colonic crypts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2615184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1" name="Text 69"/>
          <p:cNvSpPr/>
          <p:nvPr/>
        </p:nvSpPr>
        <p:spPr>
          <a:xfrm>
            <a:off x="6217920" y="26151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419088" y="2587752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genotyping for penetrance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17920" y="3044952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4" name="Text 72"/>
          <p:cNvSpPr/>
          <p:nvPr/>
        </p:nvSpPr>
        <p:spPr>
          <a:xfrm>
            <a:off x="6217920" y="30449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419088" y="301752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profiling (CUT&amp;RUN)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217920" y="3474720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7" name="Text 75"/>
          <p:cNvSpPr/>
          <p:nvPr/>
        </p:nvSpPr>
        <p:spPr>
          <a:xfrm>
            <a:off x="6217920" y="34747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419088" y="34472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R-loop mapping (DRIP-seq)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217920" y="3904488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0" name="Text 78"/>
          <p:cNvSpPr/>
          <p:nvPr/>
        </p:nvSpPr>
        <p:spPr>
          <a:xfrm>
            <a:off x="6217920" y="39044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419088" y="387705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Multi-polyp per-lesion genomics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217920" y="4334256"/>
            <a:ext cx="155448" cy="1554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3" name="Text 81"/>
          <p:cNvSpPr/>
          <p:nvPr/>
        </p:nvSpPr>
        <p:spPr>
          <a:xfrm>
            <a:off x="6217920" y="43342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419088" y="430682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immunotherapy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variant is a natural experiment that could redefine how POLE truncation variants are classified in clinical genetics.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190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phenotype extends beyond PPAP: thyroid carcinoma may expand the tumor spectrum; severe endometriosis raises novel questions about POLE in endometrial biology; the congenital duplicated IVC constrains the mechanistic models.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323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Valle lab’s classification framework (Genome Medicine, 2023) was designed for ED missense variants. This truncating variant falls outside that scope while producing a phenotype within it — a natural test case for framework extension.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4553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advanced research domains — from cGAS-STING innate immunity to replication fork proteomics — extend the investigation into unexplored areas of POLE biology.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587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Blood-based assays and immunotherapy strategies can drive both mechanistic understanding and real-time clinical management simultaneously.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single variant, properly investigated, could restructure the clinical genetics framework for an entire gene.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POLE c.138del Research Framework</dc:title>
  <dc:subject>PptxGenJS Presentation</dc:subject>
  <dc:creator>Bloomed Health</dc:creator>
  <cp:lastModifiedBy>Bloomed Health</cp:lastModifiedBy>
  <cp:revision>1</cp:revision>
  <dcterms:created xsi:type="dcterms:W3CDTF">2026-04-15T00:31:19Z</dcterms:created>
  <dcterms:modified xsi:type="dcterms:W3CDTF">2026-04-15T00:31:19Z</dcterms:modified>
</cp:coreProperties>
</file>